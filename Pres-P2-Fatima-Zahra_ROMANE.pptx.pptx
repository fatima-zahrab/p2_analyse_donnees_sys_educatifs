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4694"/>
  </p:normalViewPr>
  <p:slideViewPr>
    <p:cSldViewPr snapToGrid="0">
      <p:cViewPr varScale="1">
        <p:scale>
          <a:sx n="121" d="100"/>
          <a:sy n="121" d="100"/>
        </p:scale>
        <p:origin x="3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9A78C4-6DB1-9B4F-A2D1-E33257FB1008}" type="datetimeFigureOut">
              <a:rPr lang="en-US" smtClean="0"/>
              <a:t>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AFDFB8-CD3F-C443-824D-73FBDCDCA72B}" type="slidenum">
              <a:rPr lang="en-US" smtClean="0"/>
              <a:t>‹#›</a:t>
            </a:fld>
            <a:endParaRPr lang="en-US"/>
          </a:p>
        </p:txBody>
      </p:sp>
    </p:spTree>
    <p:extLst>
      <p:ext uri="{BB962C8B-B14F-4D97-AF65-F5344CB8AC3E}">
        <p14:creationId xmlns:p14="http://schemas.microsoft.com/office/powerpoint/2010/main" val="1195967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AFDFB8-CD3F-C443-824D-73FBDCDCA72B}" type="slidenum">
              <a:rPr lang="en-US" smtClean="0"/>
              <a:t>1</a:t>
            </a:fld>
            <a:endParaRPr lang="en-US"/>
          </a:p>
        </p:txBody>
      </p:sp>
    </p:spTree>
    <p:extLst>
      <p:ext uri="{BB962C8B-B14F-4D97-AF65-F5344CB8AC3E}">
        <p14:creationId xmlns:p14="http://schemas.microsoft.com/office/powerpoint/2010/main" val="2973742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805EDF-353F-A140-B6EB-4D9BD4EEC120}" type="datetimeFigureOut">
              <a:rPr lang="en-US" smtClean="0"/>
              <a:t>2/1/26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15A025D8-3CC6-4B42-813F-3E3F2DAF7C3C}"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59706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805EDF-353F-A140-B6EB-4D9BD4EEC120}"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A025D8-3CC6-4B42-813F-3E3F2DAF7C3C}"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04959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805EDF-353F-A140-B6EB-4D9BD4EEC120}"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A025D8-3CC6-4B42-813F-3E3F2DAF7C3C}"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2857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805EDF-353F-A140-B6EB-4D9BD4EEC120}" type="datetimeFigureOut">
              <a:rPr lang="en-US" smtClean="0"/>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A025D8-3CC6-4B42-813F-3E3F2DAF7C3C}"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83248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805EDF-353F-A140-B6EB-4D9BD4EEC120}" type="datetimeFigureOut">
              <a:rPr lang="en-US" smtClean="0"/>
              <a:t>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A025D8-3CC6-4B42-813F-3E3F2DAF7C3C}"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56088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805EDF-353F-A140-B6EB-4D9BD4EEC120}" type="datetimeFigureOut">
              <a:rPr lang="en-US" smtClean="0"/>
              <a:t>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A025D8-3CC6-4B42-813F-3E3F2DAF7C3C}"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139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805EDF-353F-A140-B6EB-4D9BD4EEC120}" type="datetimeFigureOut">
              <a:rPr lang="en-US" smtClean="0"/>
              <a:t>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A025D8-3CC6-4B42-813F-3E3F2DAF7C3C}" type="slidenum">
              <a:rPr lang="en-US" smtClean="0"/>
              <a:t>‹#›</a:t>
            </a:fld>
            <a:endParaRPr lang="en-US"/>
          </a:p>
        </p:txBody>
      </p:sp>
    </p:spTree>
    <p:extLst>
      <p:ext uri="{BB962C8B-B14F-4D97-AF65-F5344CB8AC3E}">
        <p14:creationId xmlns:p14="http://schemas.microsoft.com/office/powerpoint/2010/main" val="1210978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805EDF-353F-A140-B6EB-4D9BD4EEC120}" type="datetimeFigureOut">
              <a:rPr lang="en-US" smtClean="0"/>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A025D8-3CC6-4B42-813F-3E3F2DAF7C3C}"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0580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7805EDF-353F-A140-B6EB-4D9BD4EEC120}" type="datetimeFigureOut">
              <a:rPr lang="en-US" smtClean="0"/>
              <a:t>2/1/26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15A025D8-3CC6-4B42-813F-3E3F2DAF7C3C}"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97020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805EDF-353F-A140-B6EB-4D9BD4EEC120}"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A025D8-3CC6-4B42-813F-3E3F2DAF7C3C}"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89533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805EDF-353F-A140-B6EB-4D9BD4EEC120}"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A025D8-3CC6-4B42-813F-3E3F2DAF7C3C}"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5993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7805EDF-353F-A140-B6EB-4D9BD4EEC120}" type="datetimeFigureOut">
              <a:rPr lang="en-US" smtClean="0"/>
              <a:t>2/1/26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5A025D8-3CC6-4B42-813F-3E3F2DAF7C3C}"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80871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CFAE3-AFD5-FA59-2B24-51F786269E57}"/>
              </a:ext>
            </a:extLst>
          </p:cNvPr>
          <p:cNvSpPr>
            <a:spLocks noGrp="1"/>
          </p:cNvSpPr>
          <p:nvPr>
            <p:ph type="ctrTitle"/>
          </p:nvPr>
        </p:nvSpPr>
        <p:spPr/>
        <p:txBody>
          <a:bodyPr/>
          <a:lstStyle/>
          <a:p>
            <a:pPr algn="r"/>
            <a:r>
              <a:rPr lang="en-US" dirty="0"/>
              <a:t>			ACADEMY </a:t>
            </a:r>
            <a:br>
              <a:rPr lang="en-US" dirty="0"/>
            </a:br>
            <a:endParaRPr lang="en-US" sz="2800" dirty="0"/>
          </a:p>
        </p:txBody>
      </p:sp>
      <p:sp>
        <p:nvSpPr>
          <p:cNvPr id="3" name="Subtitle 2">
            <a:extLst>
              <a:ext uri="{FF2B5EF4-FFF2-40B4-BE49-F238E27FC236}">
                <a16:creationId xmlns:a16="http://schemas.microsoft.com/office/drawing/2014/main" id="{266A2545-025F-40DE-14A1-1B6DD42758B5}"/>
              </a:ext>
            </a:extLst>
          </p:cNvPr>
          <p:cNvSpPr>
            <a:spLocks noGrp="1"/>
          </p:cNvSpPr>
          <p:nvPr>
            <p:ph type="subTitle" idx="1"/>
          </p:nvPr>
        </p:nvSpPr>
        <p:spPr/>
        <p:txBody>
          <a:bodyPr/>
          <a:lstStyle/>
          <a:p>
            <a:r>
              <a:rPr lang="fr-FR" dirty="0"/>
              <a:t>Projet d’expansion à l’international</a:t>
            </a:r>
          </a:p>
        </p:txBody>
      </p:sp>
      <p:sp>
        <p:nvSpPr>
          <p:cNvPr id="4" name="TextBox 3">
            <a:extLst>
              <a:ext uri="{FF2B5EF4-FFF2-40B4-BE49-F238E27FC236}">
                <a16:creationId xmlns:a16="http://schemas.microsoft.com/office/drawing/2014/main" id="{FF3E355C-6E93-89A2-073B-EB4B8FFC1ED5}"/>
              </a:ext>
            </a:extLst>
          </p:cNvPr>
          <p:cNvSpPr txBox="1"/>
          <p:nvPr/>
        </p:nvSpPr>
        <p:spPr>
          <a:xfrm>
            <a:off x="9633858" y="5044113"/>
            <a:ext cx="2436693" cy="369332"/>
          </a:xfrm>
          <a:prstGeom prst="rect">
            <a:avLst/>
          </a:prstGeom>
          <a:noFill/>
        </p:spPr>
        <p:txBody>
          <a:bodyPr wrap="none" rtlCol="0">
            <a:spAutoFit/>
          </a:bodyPr>
          <a:lstStyle/>
          <a:p>
            <a:r>
              <a:rPr lang="en-US" dirty="0"/>
              <a:t>Fatima-Zahra BARHOU</a:t>
            </a:r>
          </a:p>
        </p:txBody>
      </p:sp>
    </p:spTree>
    <p:extLst>
      <p:ext uri="{BB962C8B-B14F-4D97-AF65-F5344CB8AC3E}">
        <p14:creationId xmlns:p14="http://schemas.microsoft.com/office/powerpoint/2010/main" val="655973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762BEF-0749-26D2-EF65-EF068828C26D}"/>
              </a:ext>
            </a:extLst>
          </p:cNvPr>
          <p:cNvSpPr>
            <a:spLocks noGrp="1"/>
          </p:cNvSpPr>
          <p:nvPr>
            <p:ph idx="1"/>
          </p:nvPr>
        </p:nvSpPr>
        <p:spPr/>
        <p:txBody>
          <a:bodyPr/>
          <a:lstStyle/>
          <a:p>
            <a:pPr marL="0" indent="0">
              <a:buNone/>
            </a:pPr>
            <a:endParaRPr lang="fr-FR" noProof="0" dirty="0"/>
          </a:p>
          <a:p>
            <a:pPr marL="0" indent="0">
              <a:buNone/>
            </a:pPr>
            <a:r>
              <a:rPr lang="fr-FR" noProof="0" dirty="0"/>
              <a:t>Faire une analyse sur la base des données sur l’éducation issues de la banque mondiale </a:t>
            </a:r>
            <a:r>
              <a:rPr lang="fr-FR" dirty="0"/>
              <a:t>dans le but de </a:t>
            </a:r>
            <a:r>
              <a:rPr lang="fr-FR" noProof="0" dirty="0"/>
              <a:t>d’enrichir la réflexion autour du projet d’expansion à l’international de ACADEMY</a:t>
            </a:r>
          </a:p>
        </p:txBody>
      </p:sp>
      <p:sp>
        <p:nvSpPr>
          <p:cNvPr id="5" name="TextBox 4">
            <a:extLst>
              <a:ext uri="{FF2B5EF4-FFF2-40B4-BE49-F238E27FC236}">
                <a16:creationId xmlns:a16="http://schemas.microsoft.com/office/drawing/2014/main" id="{512F944F-38AC-3EE5-5ABA-7889FF4DF703}"/>
              </a:ext>
            </a:extLst>
          </p:cNvPr>
          <p:cNvSpPr txBox="1"/>
          <p:nvPr/>
        </p:nvSpPr>
        <p:spPr>
          <a:xfrm>
            <a:off x="1451579" y="1391655"/>
            <a:ext cx="6099586" cy="369332"/>
          </a:xfrm>
          <a:prstGeom prst="rect">
            <a:avLst/>
          </a:prstGeom>
          <a:noFill/>
        </p:spPr>
        <p:txBody>
          <a:bodyPr wrap="square">
            <a:spAutoFit/>
          </a:bodyPr>
          <a:lstStyle/>
          <a:p>
            <a:r>
              <a:rPr lang="fr-FR" noProof="0" dirty="0"/>
              <a:t>L’objectif de l’étude : </a:t>
            </a:r>
          </a:p>
        </p:txBody>
      </p:sp>
    </p:spTree>
    <p:extLst>
      <p:ext uri="{BB962C8B-B14F-4D97-AF65-F5344CB8AC3E}">
        <p14:creationId xmlns:p14="http://schemas.microsoft.com/office/powerpoint/2010/main" val="1922620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E86DFA-2435-C6D0-4DC7-412CBE2CBFD9}"/>
              </a:ext>
            </a:extLst>
          </p:cNvPr>
          <p:cNvSpPr>
            <a:spLocks noGrp="1"/>
          </p:cNvSpPr>
          <p:nvPr>
            <p:ph idx="1"/>
          </p:nvPr>
        </p:nvSpPr>
        <p:spPr>
          <a:xfrm>
            <a:off x="357154" y="114379"/>
            <a:ext cx="9603275" cy="3450613"/>
          </a:xfrm>
          <a:ln>
            <a:noFill/>
          </a:ln>
        </p:spPr>
        <p:txBody>
          <a:bodyPr/>
          <a:lstStyle/>
          <a:p>
            <a:r>
              <a:rPr lang="fr-FR" noProof="0" dirty="0"/>
              <a:t>Nous récupérons les données issues du site de la banque mondiale, puis nous traitons les différents tableaux, dans l’objectif final d’établir un classement des pays ayant les meilleurs taux de scolarité et de réussite au lycée et au cycle universitaire.</a:t>
            </a:r>
          </a:p>
          <a:p>
            <a:r>
              <a:rPr lang="fr-FR" noProof="0" dirty="0"/>
              <a:t>Ce classement a pour objectif d’aider ACADEMY à déterminer dan</a:t>
            </a:r>
            <a:r>
              <a:rPr lang="fr-FR" dirty="0"/>
              <a:t>s quels pays s’installer.</a:t>
            </a:r>
          </a:p>
          <a:p>
            <a:r>
              <a:rPr lang="fr-FR" dirty="0"/>
              <a:t>Après avoir importé nos différents tableaux, nous procédons au nettoyage des données. Cela consiste à appliquer différents traitements pour qualifier les fichiers, et les rendre exploitables.</a:t>
            </a:r>
          </a:p>
          <a:p>
            <a:r>
              <a:rPr lang="fr-FR" noProof="0" dirty="0"/>
              <a:t>Nous partons de 5 fichiers, qui font cette taille : </a:t>
            </a:r>
          </a:p>
        </p:txBody>
      </p:sp>
      <p:pic>
        <p:nvPicPr>
          <p:cNvPr id="4" name="Picture 3">
            <a:extLst>
              <a:ext uri="{FF2B5EF4-FFF2-40B4-BE49-F238E27FC236}">
                <a16:creationId xmlns:a16="http://schemas.microsoft.com/office/drawing/2014/main" id="{92D6A19A-0465-D43C-D0A8-4EAA8460CAC3}"/>
              </a:ext>
            </a:extLst>
          </p:cNvPr>
          <p:cNvPicPr>
            <a:picLocks noChangeAspect="1"/>
          </p:cNvPicPr>
          <p:nvPr/>
        </p:nvPicPr>
        <p:blipFill>
          <a:blip r:embed="rId2"/>
          <a:stretch>
            <a:fillRect/>
          </a:stretch>
        </p:blipFill>
        <p:spPr>
          <a:xfrm>
            <a:off x="2291279" y="3564992"/>
            <a:ext cx="6073948" cy="3092359"/>
          </a:xfrm>
          <a:prstGeom prst="rect">
            <a:avLst/>
          </a:prstGeom>
        </p:spPr>
      </p:pic>
      <p:sp>
        <p:nvSpPr>
          <p:cNvPr id="7" name="TextBox 6">
            <a:extLst>
              <a:ext uri="{FF2B5EF4-FFF2-40B4-BE49-F238E27FC236}">
                <a16:creationId xmlns:a16="http://schemas.microsoft.com/office/drawing/2014/main" id="{4672CD80-25C6-8E99-4960-D6FA76208D1A}"/>
              </a:ext>
            </a:extLst>
          </p:cNvPr>
          <p:cNvSpPr txBox="1"/>
          <p:nvPr/>
        </p:nvSpPr>
        <p:spPr>
          <a:xfrm>
            <a:off x="2198914" y="1839686"/>
            <a:ext cx="184731" cy="369332"/>
          </a:xfrm>
          <a:prstGeom prst="rect">
            <a:avLst/>
          </a:prstGeom>
          <a:noFill/>
          <a:ln>
            <a:noFill/>
          </a:ln>
        </p:spPr>
        <p:txBody>
          <a:bodyPr wrap="none" rtlCol="0">
            <a:spAutoFit/>
          </a:bodyPr>
          <a:lstStyle/>
          <a:p>
            <a:endParaRPr lang="en-US"/>
          </a:p>
        </p:txBody>
      </p:sp>
    </p:spTree>
    <p:extLst>
      <p:ext uri="{BB962C8B-B14F-4D97-AF65-F5344CB8AC3E}">
        <p14:creationId xmlns:p14="http://schemas.microsoft.com/office/powerpoint/2010/main" val="22852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6000">
              <a:srgbClr val="E7E4E1"/>
            </a:gs>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CC72B9-0B1C-489A-6066-5922FA436531}"/>
              </a:ext>
            </a:extLst>
          </p:cNvPr>
          <p:cNvSpPr>
            <a:spLocks noGrp="1"/>
          </p:cNvSpPr>
          <p:nvPr>
            <p:ph idx="1"/>
          </p:nvPr>
        </p:nvSpPr>
        <p:spPr>
          <a:xfrm>
            <a:off x="685801" y="-147001"/>
            <a:ext cx="10092094" cy="5252401"/>
          </a:xfrm>
        </p:spPr>
        <p:txBody>
          <a:bodyPr/>
          <a:lstStyle/>
          <a:p>
            <a:endParaRPr lang="fr-FR" noProof="0" dirty="0"/>
          </a:p>
          <a:p>
            <a:r>
              <a:rPr lang="fr-FR" noProof="0" dirty="0"/>
              <a:t>On s’assure de l’absence de doublons.</a:t>
            </a:r>
          </a:p>
          <a:p>
            <a:r>
              <a:rPr lang="fr-FR" noProof="0" dirty="0"/>
              <a:t>On supprime les colonnes vides</a:t>
            </a:r>
          </a:p>
          <a:p>
            <a:r>
              <a:rPr lang="fr-FR" noProof="0" dirty="0"/>
              <a:t>On supprime les faux pays, pour obtenir une base clean. Voici un aperçu d’un tableau nettoyé : </a:t>
            </a:r>
          </a:p>
          <a:p>
            <a:pPr marL="0" indent="0">
              <a:buNone/>
            </a:pPr>
            <a:endParaRPr lang="fr-FR" noProof="0" dirty="0"/>
          </a:p>
          <a:p>
            <a:endParaRPr lang="fr-FR" noProof="0" dirty="0"/>
          </a:p>
          <a:p>
            <a:endParaRPr lang="fr-FR" noProof="0" dirty="0"/>
          </a:p>
          <a:p>
            <a:endParaRPr lang="fr-FR" noProof="0" dirty="0"/>
          </a:p>
        </p:txBody>
      </p:sp>
      <p:pic>
        <p:nvPicPr>
          <p:cNvPr id="8" name="Picture 7">
            <a:extLst>
              <a:ext uri="{FF2B5EF4-FFF2-40B4-BE49-F238E27FC236}">
                <a16:creationId xmlns:a16="http://schemas.microsoft.com/office/drawing/2014/main" id="{69F87695-F5D4-F41E-06DC-941E91FA5B5A}"/>
              </a:ext>
            </a:extLst>
          </p:cNvPr>
          <p:cNvPicPr>
            <a:picLocks noChangeAspect="1"/>
          </p:cNvPicPr>
          <p:nvPr/>
        </p:nvPicPr>
        <p:blipFill>
          <a:blip r:embed="rId2"/>
          <a:srcRect b="17046"/>
          <a:stretch>
            <a:fillRect/>
          </a:stretch>
        </p:blipFill>
        <p:spPr>
          <a:xfrm>
            <a:off x="1294361" y="2166257"/>
            <a:ext cx="9713095" cy="3495687"/>
          </a:xfrm>
          <a:prstGeom prst="rect">
            <a:avLst/>
          </a:prstGeom>
          <a:pattFill prst="pct5">
            <a:fgClr>
              <a:schemeClr val="accent1"/>
            </a:fgClr>
            <a:bgClr>
              <a:schemeClr val="bg1"/>
            </a:bgClr>
          </a:patt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Tree>
    <p:extLst>
      <p:ext uri="{BB962C8B-B14F-4D97-AF65-F5344CB8AC3E}">
        <p14:creationId xmlns:p14="http://schemas.microsoft.com/office/powerpoint/2010/main" val="3605589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44000">
              <a:srgbClr val="DDDAD6"/>
            </a:gs>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8CA995-69F7-6DEE-641F-D14BA1B831B1}"/>
              </a:ext>
            </a:extLst>
          </p:cNvPr>
          <p:cNvSpPr>
            <a:spLocks noGrp="1"/>
          </p:cNvSpPr>
          <p:nvPr>
            <p:ph idx="1"/>
          </p:nvPr>
        </p:nvSpPr>
        <p:spPr>
          <a:xfrm>
            <a:off x="1014261" y="350218"/>
            <a:ext cx="10163478" cy="5310353"/>
          </a:xfrm>
          <a:noFill/>
        </p:spPr>
        <p:txBody>
          <a:bodyPr>
            <a:normAutofit fontScale="92500" lnSpcReduction="20000"/>
          </a:bodyPr>
          <a:lstStyle/>
          <a:p>
            <a:r>
              <a:rPr lang="fr-FR" noProof="0" dirty="0"/>
              <a:t>2ème partie du traitement : </a:t>
            </a:r>
          </a:p>
          <a:p>
            <a:pPr marL="0" indent="0">
              <a:buNone/>
            </a:pPr>
            <a:r>
              <a:rPr lang="fr-FR" noProof="0" dirty="0"/>
              <a:t>C’est une étape importante dans notre étude. Nous choisissons parmi les différents indicateurs statistiques ceux qui nous semblent pertinents pour l’étude du projet d’expansion.</a:t>
            </a:r>
          </a:p>
          <a:p>
            <a:pPr marL="0" indent="0">
              <a:buNone/>
            </a:pPr>
            <a:endParaRPr lang="fr-FR" dirty="0"/>
          </a:p>
          <a:p>
            <a:pPr marL="0" indent="0">
              <a:buNone/>
            </a:pPr>
            <a:r>
              <a:rPr lang="fr-FR" dirty="0"/>
              <a:t>Voici les indicateurs sélectionnés : </a:t>
            </a:r>
          </a:p>
          <a:p>
            <a:pPr>
              <a:buFont typeface="Wingdings" pitchFamily="2" charset="2"/>
              <a:buChar char="§"/>
            </a:pPr>
            <a:r>
              <a:rPr lang="fr-FR" dirty="0" err="1"/>
              <a:t>Adjusted</a:t>
            </a:r>
            <a:r>
              <a:rPr lang="fr-FR" dirty="0"/>
              <a:t> net </a:t>
            </a:r>
            <a:r>
              <a:rPr lang="fr-FR" dirty="0" err="1"/>
              <a:t>enrolment</a:t>
            </a:r>
            <a:r>
              <a:rPr lang="fr-FR" dirty="0"/>
              <a:t> rate, </a:t>
            </a:r>
            <a:r>
              <a:rPr lang="fr-FR" dirty="0" err="1"/>
              <a:t>upper</a:t>
            </a:r>
            <a:r>
              <a:rPr lang="fr-FR" dirty="0"/>
              <a:t> </a:t>
            </a:r>
            <a:r>
              <a:rPr lang="fr-FR" dirty="0" err="1"/>
              <a:t>secondary</a:t>
            </a:r>
            <a:r>
              <a:rPr lang="fr-FR" dirty="0"/>
              <a:t>, </a:t>
            </a:r>
            <a:r>
              <a:rPr lang="fr-FR" dirty="0" err="1"/>
              <a:t>both</a:t>
            </a:r>
            <a:r>
              <a:rPr lang="fr-FR" dirty="0"/>
              <a:t> sexes (%)</a:t>
            </a:r>
          </a:p>
          <a:p>
            <a:pPr>
              <a:buFont typeface="Wingdings" pitchFamily="2" charset="2"/>
              <a:buChar char="§"/>
            </a:pPr>
            <a:r>
              <a:rPr lang="fr-FR" dirty="0"/>
              <a:t>Gross </a:t>
            </a:r>
            <a:r>
              <a:rPr lang="fr-FR" dirty="0" err="1"/>
              <a:t>enrolment</a:t>
            </a:r>
            <a:r>
              <a:rPr lang="fr-FR" dirty="0"/>
              <a:t> ratio, </a:t>
            </a:r>
            <a:r>
              <a:rPr lang="fr-FR" dirty="0" err="1"/>
              <a:t>tertiary</a:t>
            </a:r>
            <a:r>
              <a:rPr lang="fr-FR" dirty="0"/>
              <a:t>, </a:t>
            </a:r>
            <a:r>
              <a:rPr lang="fr-FR" dirty="0" err="1"/>
              <a:t>both</a:t>
            </a:r>
            <a:r>
              <a:rPr lang="fr-FR" dirty="0"/>
              <a:t> sexes (%)  </a:t>
            </a:r>
          </a:p>
          <a:p>
            <a:pPr>
              <a:buFont typeface="Wingdings" pitchFamily="2" charset="2"/>
              <a:buChar char="§"/>
            </a:pPr>
            <a:r>
              <a:rPr lang="fr-FR" dirty="0"/>
              <a:t>Gross </a:t>
            </a:r>
            <a:r>
              <a:rPr lang="fr-FR" dirty="0" err="1"/>
              <a:t>enrolment</a:t>
            </a:r>
            <a:r>
              <a:rPr lang="fr-FR" dirty="0"/>
              <a:t> ratio, </a:t>
            </a:r>
            <a:r>
              <a:rPr lang="fr-FR" dirty="0" err="1"/>
              <a:t>upper</a:t>
            </a:r>
            <a:r>
              <a:rPr lang="fr-FR" dirty="0"/>
              <a:t> </a:t>
            </a:r>
            <a:r>
              <a:rPr lang="fr-FR" dirty="0" err="1"/>
              <a:t>secondary</a:t>
            </a:r>
            <a:r>
              <a:rPr lang="fr-FR" dirty="0"/>
              <a:t>, </a:t>
            </a:r>
            <a:r>
              <a:rPr lang="fr-FR" dirty="0" err="1"/>
              <a:t>both</a:t>
            </a:r>
            <a:r>
              <a:rPr lang="fr-FR" dirty="0"/>
              <a:t> sexes (%) </a:t>
            </a:r>
          </a:p>
          <a:p>
            <a:pPr>
              <a:buFont typeface="Wingdings" pitchFamily="2" charset="2"/>
              <a:buChar char="§"/>
            </a:pPr>
            <a:r>
              <a:rPr lang="fr-FR" dirty="0"/>
              <a:t>Gross graduation ratio </a:t>
            </a:r>
            <a:r>
              <a:rPr lang="fr-FR" dirty="0" err="1"/>
              <a:t>from</a:t>
            </a:r>
            <a:r>
              <a:rPr lang="fr-FR" dirty="0"/>
              <a:t> first </a:t>
            </a:r>
            <a:r>
              <a:rPr lang="fr-FR" dirty="0" err="1"/>
              <a:t>degree</a:t>
            </a:r>
            <a:r>
              <a:rPr lang="fr-FR" dirty="0"/>
              <a:t> programmes (ISCED 6 and 7) in </a:t>
            </a:r>
            <a:r>
              <a:rPr lang="fr-FR" dirty="0" err="1"/>
              <a:t>tertiary</a:t>
            </a:r>
            <a:r>
              <a:rPr lang="fr-FR" dirty="0"/>
              <a:t> </a:t>
            </a:r>
            <a:r>
              <a:rPr lang="fr-FR" dirty="0" err="1"/>
              <a:t>education</a:t>
            </a:r>
            <a:r>
              <a:rPr lang="fr-FR" dirty="0"/>
              <a:t>, </a:t>
            </a:r>
            <a:r>
              <a:rPr lang="fr-FR" dirty="0" err="1"/>
              <a:t>both</a:t>
            </a:r>
            <a:r>
              <a:rPr lang="fr-FR" dirty="0"/>
              <a:t> sexes (%) </a:t>
            </a:r>
          </a:p>
          <a:p>
            <a:pPr>
              <a:buFont typeface="Wingdings" pitchFamily="2" charset="2"/>
              <a:buChar char="§"/>
            </a:pPr>
            <a:r>
              <a:rPr lang="fr-FR" dirty="0"/>
              <a:t>Internet </a:t>
            </a:r>
            <a:r>
              <a:rPr lang="fr-FR" dirty="0" err="1"/>
              <a:t>users</a:t>
            </a:r>
            <a:r>
              <a:rPr lang="fr-FR" dirty="0"/>
              <a:t> (per 100 people)  </a:t>
            </a:r>
          </a:p>
          <a:p>
            <a:pPr>
              <a:buFont typeface="Wingdings" pitchFamily="2" charset="2"/>
              <a:buChar char="§"/>
            </a:pPr>
            <a:r>
              <a:rPr lang="fr-FR" dirty="0"/>
              <a:t>Percentage of all </a:t>
            </a:r>
            <a:r>
              <a:rPr lang="fr-FR" dirty="0" err="1"/>
              <a:t>students</a:t>
            </a:r>
            <a:r>
              <a:rPr lang="fr-FR" dirty="0"/>
              <a:t> in </a:t>
            </a:r>
            <a:r>
              <a:rPr lang="fr-FR" dirty="0" err="1"/>
              <a:t>tertiary</a:t>
            </a:r>
            <a:r>
              <a:rPr lang="fr-FR" dirty="0"/>
              <a:t> </a:t>
            </a:r>
            <a:r>
              <a:rPr lang="fr-FR" dirty="0" err="1"/>
              <a:t>education</a:t>
            </a:r>
            <a:r>
              <a:rPr lang="fr-FR" dirty="0"/>
              <a:t> </a:t>
            </a:r>
            <a:r>
              <a:rPr lang="fr-FR" dirty="0" err="1"/>
              <a:t>enrolled</a:t>
            </a:r>
            <a:r>
              <a:rPr lang="fr-FR" dirty="0"/>
              <a:t> in ISCED 5, </a:t>
            </a:r>
            <a:r>
              <a:rPr lang="fr-FR" dirty="0" err="1"/>
              <a:t>both</a:t>
            </a:r>
            <a:r>
              <a:rPr lang="fr-FR" dirty="0"/>
              <a:t> sexes (%)</a:t>
            </a:r>
          </a:p>
          <a:p>
            <a:pPr>
              <a:buFont typeface="Wingdings" pitchFamily="2" charset="2"/>
              <a:buChar char="§"/>
            </a:pPr>
            <a:r>
              <a:rPr lang="fr-FR" dirty="0"/>
              <a:t>Percentage of all </a:t>
            </a:r>
            <a:r>
              <a:rPr lang="fr-FR" dirty="0" err="1"/>
              <a:t>students</a:t>
            </a:r>
            <a:r>
              <a:rPr lang="fr-FR" dirty="0"/>
              <a:t> in </a:t>
            </a:r>
            <a:r>
              <a:rPr lang="fr-FR" dirty="0" err="1"/>
              <a:t>tertiary</a:t>
            </a:r>
            <a:r>
              <a:rPr lang="fr-FR" dirty="0"/>
              <a:t> </a:t>
            </a:r>
            <a:r>
              <a:rPr lang="fr-FR" dirty="0" err="1"/>
              <a:t>education</a:t>
            </a:r>
            <a:r>
              <a:rPr lang="fr-FR" dirty="0"/>
              <a:t> </a:t>
            </a:r>
            <a:r>
              <a:rPr lang="fr-FR" dirty="0" err="1"/>
              <a:t>enrolled</a:t>
            </a:r>
            <a:r>
              <a:rPr lang="fr-FR" dirty="0"/>
              <a:t> in ISCED 6, </a:t>
            </a:r>
            <a:r>
              <a:rPr lang="fr-FR" dirty="0" err="1"/>
              <a:t>both</a:t>
            </a:r>
            <a:r>
              <a:rPr lang="fr-FR" dirty="0"/>
              <a:t> sexes (%)</a:t>
            </a:r>
            <a:endParaRPr lang="fr-FR" noProof="0" dirty="0"/>
          </a:p>
          <a:p>
            <a:pPr marL="0" indent="0">
              <a:buNone/>
            </a:pPr>
            <a:endParaRPr lang="fr-FR" noProof="0" dirty="0"/>
          </a:p>
        </p:txBody>
      </p:sp>
    </p:spTree>
    <p:extLst>
      <p:ext uri="{BB962C8B-B14F-4D97-AF65-F5344CB8AC3E}">
        <p14:creationId xmlns:p14="http://schemas.microsoft.com/office/powerpoint/2010/main" val="1096868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B126B-3B62-7FD1-3916-646BFDE1E834}"/>
              </a:ext>
            </a:extLst>
          </p:cNvPr>
          <p:cNvSpPr>
            <a:spLocks noGrp="1"/>
          </p:cNvSpPr>
          <p:nvPr>
            <p:ph idx="1"/>
          </p:nvPr>
        </p:nvSpPr>
        <p:spPr>
          <a:xfrm>
            <a:off x="1207276" y="339333"/>
            <a:ext cx="10168295" cy="5734896"/>
          </a:xfrm>
          <a:noFill/>
        </p:spPr>
        <p:txBody>
          <a:bodyPr>
            <a:normAutofit fontScale="92500" lnSpcReduction="10000"/>
          </a:bodyPr>
          <a:lstStyle/>
          <a:p>
            <a:r>
              <a:rPr lang="fr-FR" noProof="0" dirty="0"/>
              <a:t>Après avoir sélectionné nos indicateurs, nous passons aux années. Nous disposons des données à partir de 1970. </a:t>
            </a:r>
          </a:p>
          <a:p>
            <a:r>
              <a:rPr lang="fr-FR" noProof="0" dirty="0"/>
              <a:t>Nous cherchons à savoir quelles sont les années les plus riches en informations, puis nous filtrons notre jeu de données sur cette base.</a:t>
            </a:r>
          </a:p>
          <a:p>
            <a:r>
              <a:rPr lang="fr-FR" noProof="0" dirty="0"/>
              <a:t>Pour notre cas, nous </a:t>
            </a:r>
            <a:r>
              <a:rPr lang="fr-FR" noProof="0" dirty="0" err="1"/>
              <a:t>sélectionons</a:t>
            </a:r>
            <a:r>
              <a:rPr lang="fr-FR" noProof="0" dirty="0"/>
              <a:t> les années entre 2005 et 2015, car ce sont les années ayant le plus grand nombre d’indicateurs complétés, et cela nous permettra de constater l’évolution des indicateurs sur 10 ans.</a:t>
            </a:r>
          </a:p>
          <a:p>
            <a:r>
              <a:rPr lang="fr-FR" dirty="0"/>
              <a:t>Nous comparons ensuite les indicateurs et les années pour ne garder que les indicateurs ayant le plus d’informations sur ces années. En l’</a:t>
            </a:r>
            <a:r>
              <a:rPr lang="fr-FR" dirty="0" err="1"/>
              <a:t>occurence</a:t>
            </a:r>
            <a:r>
              <a:rPr lang="fr-FR" dirty="0"/>
              <a:t> nous supprimons ces deux indicateurs pour insuffisance de données : </a:t>
            </a:r>
          </a:p>
          <a:p>
            <a:pPr lvl="1">
              <a:buFont typeface="Wingdings" pitchFamily="2" charset="2"/>
              <a:buChar char="§"/>
            </a:pPr>
            <a:r>
              <a:rPr lang="fr-FR" dirty="0" err="1"/>
              <a:t>Adjusted</a:t>
            </a:r>
            <a:r>
              <a:rPr lang="fr-FR" dirty="0"/>
              <a:t> net </a:t>
            </a:r>
            <a:r>
              <a:rPr lang="fr-FR" dirty="0" err="1"/>
              <a:t>enrolment</a:t>
            </a:r>
            <a:r>
              <a:rPr lang="fr-FR" dirty="0"/>
              <a:t> rate, </a:t>
            </a:r>
            <a:r>
              <a:rPr lang="fr-FR" dirty="0" err="1"/>
              <a:t>upper</a:t>
            </a:r>
            <a:r>
              <a:rPr lang="fr-FR" dirty="0"/>
              <a:t> </a:t>
            </a:r>
            <a:r>
              <a:rPr lang="fr-FR" dirty="0" err="1"/>
              <a:t>secondary</a:t>
            </a:r>
            <a:r>
              <a:rPr lang="fr-FR" dirty="0"/>
              <a:t>, </a:t>
            </a:r>
            <a:r>
              <a:rPr lang="fr-FR" dirty="0" err="1"/>
              <a:t>both</a:t>
            </a:r>
            <a:r>
              <a:rPr lang="fr-FR" dirty="0"/>
              <a:t> sexes (%)</a:t>
            </a:r>
          </a:p>
          <a:p>
            <a:pPr lvl="1">
              <a:buFont typeface="Wingdings" pitchFamily="2" charset="2"/>
              <a:buChar char="§"/>
            </a:pPr>
            <a:r>
              <a:rPr lang="fr-FR" dirty="0"/>
              <a:t>Percentage of all </a:t>
            </a:r>
            <a:r>
              <a:rPr lang="fr-FR" dirty="0" err="1"/>
              <a:t>students</a:t>
            </a:r>
            <a:r>
              <a:rPr lang="fr-FR" dirty="0"/>
              <a:t> in </a:t>
            </a:r>
            <a:r>
              <a:rPr lang="fr-FR" dirty="0" err="1"/>
              <a:t>tertiary</a:t>
            </a:r>
            <a:r>
              <a:rPr lang="fr-FR" dirty="0"/>
              <a:t> </a:t>
            </a:r>
            <a:r>
              <a:rPr lang="fr-FR" dirty="0" err="1"/>
              <a:t>education</a:t>
            </a:r>
            <a:r>
              <a:rPr lang="fr-FR" dirty="0"/>
              <a:t> </a:t>
            </a:r>
            <a:r>
              <a:rPr lang="fr-FR" dirty="0" err="1"/>
              <a:t>enrolled</a:t>
            </a:r>
            <a:r>
              <a:rPr lang="fr-FR" dirty="0"/>
              <a:t> in ISCED 6, </a:t>
            </a:r>
            <a:r>
              <a:rPr lang="fr-FR" dirty="0" err="1"/>
              <a:t>both</a:t>
            </a:r>
            <a:r>
              <a:rPr lang="fr-FR" dirty="0"/>
              <a:t> sexes (%)</a:t>
            </a:r>
          </a:p>
          <a:p>
            <a:r>
              <a:rPr lang="fr-FR" dirty="0"/>
              <a:t>Nous faisons le même exercice avec les pays, pour ne garder que les pays ayant au moins la moitié des </a:t>
            </a:r>
            <a:r>
              <a:rPr lang="fr-FR" dirty="0" err="1"/>
              <a:t>indictaeurs</a:t>
            </a:r>
            <a:r>
              <a:rPr lang="fr-FR" dirty="0"/>
              <a:t> renseignés sur la période choisie.</a:t>
            </a:r>
            <a:br>
              <a:rPr lang="fr-FR" dirty="0"/>
            </a:br>
            <a:endParaRPr lang="fr-FR" dirty="0"/>
          </a:p>
          <a:p>
            <a:endParaRPr lang="fr-FR" dirty="0"/>
          </a:p>
          <a:p>
            <a:endParaRPr lang="fr-FR" dirty="0"/>
          </a:p>
          <a:p>
            <a:pPr marL="0" indent="0">
              <a:buNone/>
            </a:pPr>
            <a:endParaRPr lang="fr-FR" dirty="0"/>
          </a:p>
          <a:p>
            <a:endParaRPr lang="fr-FR" noProof="0" dirty="0"/>
          </a:p>
        </p:txBody>
      </p:sp>
    </p:spTree>
    <p:extLst>
      <p:ext uri="{BB962C8B-B14F-4D97-AF65-F5344CB8AC3E}">
        <p14:creationId xmlns:p14="http://schemas.microsoft.com/office/powerpoint/2010/main" val="2796243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AB472-0390-626D-9AB1-C310126BA4EC}"/>
              </a:ext>
            </a:extLst>
          </p:cNvPr>
          <p:cNvSpPr>
            <a:spLocks noGrp="1"/>
          </p:cNvSpPr>
          <p:nvPr>
            <p:ph idx="1"/>
          </p:nvPr>
        </p:nvSpPr>
        <p:spPr>
          <a:xfrm>
            <a:off x="283029" y="272144"/>
            <a:ext cx="10771825" cy="5194202"/>
          </a:xfrm>
        </p:spPr>
        <p:txBody>
          <a:bodyPr/>
          <a:lstStyle/>
          <a:p>
            <a:r>
              <a:rPr lang="fr-FR" noProof="0" dirty="0"/>
              <a:t>Nous retrouvons un tableau avec le total des indicateurs par pays, que nous allons continuer de traiter pour obtenir pour chaque pays, la moyenne de chaque indicateur sur la période.</a:t>
            </a:r>
          </a:p>
          <a:p>
            <a:endParaRPr lang="fr-FR" noProof="0" dirty="0"/>
          </a:p>
          <a:p>
            <a:endParaRPr lang="fr-FR" noProof="0" dirty="0"/>
          </a:p>
        </p:txBody>
      </p:sp>
      <p:pic>
        <p:nvPicPr>
          <p:cNvPr id="7" name="Picture 6">
            <a:extLst>
              <a:ext uri="{FF2B5EF4-FFF2-40B4-BE49-F238E27FC236}">
                <a16:creationId xmlns:a16="http://schemas.microsoft.com/office/drawing/2014/main" id="{C89D7880-B202-ACB1-2609-722E05B25D3F}"/>
              </a:ext>
            </a:extLst>
          </p:cNvPr>
          <p:cNvPicPr>
            <a:picLocks noChangeAspect="1"/>
          </p:cNvPicPr>
          <p:nvPr/>
        </p:nvPicPr>
        <p:blipFill>
          <a:blip r:embed="rId2"/>
          <a:stretch>
            <a:fillRect/>
          </a:stretch>
        </p:blipFill>
        <p:spPr>
          <a:xfrm>
            <a:off x="4384516" y="2048059"/>
            <a:ext cx="6670338" cy="3385958"/>
          </a:xfrm>
          <a:prstGeom prst="rect">
            <a:avLst/>
          </a:prstGeom>
        </p:spPr>
      </p:pic>
    </p:spTree>
    <p:extLst>
      <p:ext uri="{BB962C8B-B14F-4D97-AF65-F5344CB8AC3E}">
        <p14:creationId xmlns:p14="http://schemas.microsoft.com/office/powerpoint/2010/main" val="528830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50C098-7536-6167-2FB8-9CBE3D4E7A76}"/>
              </a:ext>
            </a:extLst>
          </p:cNvPr>
          <p:cNvSpPr>
            <a:spLocks noGrp="1"/>
          </p:cNvSpPr>
          <p:nvPr>
            <p:ph idx="1"/>
          </p:nvPr>
        </p:nvSpPr>
        <p:spPr>
          <a:xfrm>
            <a:off x="446315" y="0"/>
            <a:ext cx="10608540" cy="5466345"/>
          </a:xfrm>
        </p:spPr>
        <p:txBody>
          <a:bodyPr/>
          <a:lstStyle/>
          <a:p>
            <a:endParaRPr lang="fr-FR" noProof="0" dirty="0"/>
          </a:p>
          <a:p>
            <a:r>
              <a:rPr lang="fr-FR" noProof="0" dirty="0"/>
              <a:t>Nous arrivons au résultat suivant : un tableau affichant pour chaque pays, la moyenne par indicateur.</a:t>
            </a:r>
          </a:p>
          <a:p>
            <a:endParaRPr lang="fr-FR" noProof="0" dirty="0"/>
          </a:p>
        </p:txBody>
      </p:sp>
      <p:pic>
        <p:nvPicPr>
          <p:cNvPr id="5" name="Picture 4">
            <a:extLst>
              <a:ext uri="{FF2B5EF4-FFF2-40B4-BE49-F238E27FC236}">
                <a16:creationId xmlns:a16="http://schemas.microsoft.com/office/drawing/2014/main" id="{9DFCBD3B-05DA-4122-0862-376F57936664}"/>
              </a:ext>
            </a:extLst>
          </p:cNvPr>
          <p:cNvPicPr>
            <a:picLocks noChangeAspect="1"/>
          </p:cNvPicPr>
          <p:nvPr/>
        </p:nvPicPr>
        <p:blipFill>
          <a:blip r:embed="rId2"/>
          <a:stretch>
            <a:fillRect/>
          </a:stretch>
        </p:blipFill>
        <p:spPr>
          <a:xfrm>
            <a:off x="1137145" y="1977025"/>
            <a:ext cx="9680496" cy="3237232"/>
          </a:xfrm>
          <a:prstGeom prst="rect">
            <a:avLst/>
          </a:prstGeom>
        </p:spPr>
      </p:pic>
    </p:spTree>
    <p:extLst>
      <p:ext uri="{BB962C8B-B14F-4D97-AF65-F5344CB8AC3E}">
        <p14:creationId xmlns:p14="http://schemas.microsoft.com/office/powerpoint/2010/main" val="458591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73203E-ADFF-23A2-90A6-CE26071036A8}"/>
              </a:ext>
            </a:extLst>
          </p:cNvPr>
          <p:cNvSpPr>
            <a:spLocks noGrp="1"/>
          </p:cNvSpPr>
          <p:nvPr>
            <p:ph idx="1"/>
          </p:nvPr>
        </p:nvSpPr>
        <p:spPr>
          <a:xfrm>
            <a:off x="326571" y="239486"/>
            <a:ext cx="10728283" cy="5379259"/>
          </a:xfrm>
        </p:spPr>
        <p:txBody>
          <a:bodyPr/>
          <a:lstStyle/>
          <a:p>
            <a:r>
              <a:rPr lang="fr-FR" noProof="0" dirty="0"/>
              <a:t>Nous procédons ensuite aux analyses de corrélation entre les différents indicateurs, dans le but de supprimer des indicateurs fortement corrélés qui seront redondants pour nos analyses. </a:t>
            </a:r>
          </a:p>
          <a:p>
            <a:r>
              <a:rPr lang="fr-FR" noProof="0" dirty="0"/>
              <a:t>Dans notre cas, ayant bien sélectionné les indicateurs au début de l’étude nous ne supprimerons aucun indicateur à ce stade.</a:t>
            </a:r>
          </a:p>
          <a:p>
            <a:r>
              <a:rPr lang="fr-FR" dirty="0"/>
              <a:t>Matrice de corrélation avec la méthode Pearson : </a:t>
            </a:r>
          </a:p>
          <a:p>
            <a:endParaRPr lang="fr-FR" noProof="0" dirty="0"/>
          </a:p>
          <a:p>
            <a:endParaRPr lang="fr-FR" dirty="0"/>
          </a:p>
          <a:p>
            <a:endParaRPr lang="fr-FR" noProof="0" dirty="0"/>
          </a:p>
          <a:p>
            <a:endParaRPr lang="fr-FR" dirty="0"/>
          </a:p>
          <a:p>
            <a:r>
              <a:rPr lang="fr-FR" dirty="0"/>
              <a:t>Matrice de corrélation avec la méthode Spearman : </a:t>
            </a:r>
          </a:p>
          <a:p>
            <a:endParaRPr lang="fr-FR" noProof="0" dirty="0"/>
          </a:p>
        </p:txBody>
      </p:sp>
      <p:pic>
        <p:nvPicPr>
          <p:cNvPr id="4" name="Picture 3">
            <a:extLst>
              <a:ext uri="{FF2B5EF4-FFF2-40B4-BE49-F238E27FC236}">
                <a16:creationId xmlns:a16="http://schemas.microsoft.com/office/drawing/2014/main" id="{5C3987CF-055C-8752-3159-DF6F47363C52}"/>
              </a:ext>
            </a:extLst>
          </p:cNvPr>
          <p:cNvPicPr>
            <a:picLocks noChangeAspect="1"/>
          </p:cNvPicPr>
          <p:nvPr/>
        </p:nvPicPr>
        <p:blipFill>
          <a:blip r:embed="rId2"/>
          <a:stretch>
            <a:fillRect/>
          </a:stretch>
        </p:blipFill>
        <p:spPr>
          <a:xfrm>
            <a:off x="5912269" y="1988359"/>
            <a:ext cx="5773273" cy="1881512"/>
          </a:xfrm>
          <a:prstGeom prst="rect">
            <a:avLst/>
          </a:prstGeom>
        </p:spPr>
      </p:pic>
      <p:pic>
        <p:nvPicPr>
          <p:cNvPr id="5" name="Picture 4">
            <a:extLst>
              <a:ext uri="{FF2B5EF4-FFF2-40B4-BE49-F238E27FC236}">
                <a16:creationId xmlns:a16="http://schemas.microsoft.com/office/drawing/2014/main" id="{5AB731F0-FF9F-CDB5-6366-635B679B3609}"/>
              </a:ext>
            </a:extLst>
          </p:cNvPr>
          <p:cNvPicPr>
            <a:picLocks noChangeAspect="1"/>
          </p:cNvPicPr>
          <p:nvPr/>
        </p:nvPicPr>
        <p:blipFill>
          <a:blip r:embed="rId3"/>
          <a:stretch>
            <a:fillRect/>
          </a:stretch>
        </p:blipFill>
        <p:spPr>
          <a:xfrm>
            <a:off x="5912269" y="4149419"/>
            <a:ext cx="5773273" cy="1792388"/>
          </a:xfrm>
          <a:prstGeom prst="rect">
            <a:avLst/>
          </a:prstGeom>
        </p:spPr>
      </p:pic>
    </p:spTree>
    <p:extLst>
      <p:ext uri="{BB962C8B-B14F-4D97-AF65-F5344CB8AC3E}">
        <p14:creationId xmlns:p14="http://schemas.microsoft.com/office/powerpoint/2010/main" val="3526457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729219-EC34-A97B-C5DC-0C1D9F177479}"/>
              </a:ext>
            </a:extLst>
          </p:cNvPr>
          <p:cNvPicPr>
            <a:picLocks noChangeAspect="1"/>
          </p:cNvPicPr>
          <p:nvPr/>
        </p:nvPicPr>
        <p:blipFill>
          <a:blip r:embed="rId2"/>
          <a:stretch>
            <a:fillRect/>
          </a:stretch>
        </p:blipFill>
        <p:spPr>
          <a:xfrm>
            <a:off x="1371600" y="138874"/>
            <a:ext cx="9683254" cy="2338286"/>
          </a:xfrm>
          <a:prstGeom prst="rect">
            <a:avLst/>
          </a:prstGeom>
        </p:spPr>
      </p:pic>
      <p:sp>
        <p:nvSpPr>
          <p:cNvPr id="3" name="Content Placeholder 2">
            <a:extLst>
              <a:ext uri="{FF2B5EF4-FFF2-40B4-BE49-F238E27FC236}">
                <a16:creationId xmlns:a16="http://schemas.microsoft.com/office/drawing/2014/main" id="{0DBC4335-05D3-54E3-733C-7584519F46C1}"/>
              </a:ext>
            </a:extLst>
          </p:cNvPr>
          <p:cNvSpPr>
            <a:spLocks noGrp="1"/>
          </p:cNvSpPr>
          <p:nvPr>
            <p:ph idx="1"/>
          </p:nvPr>
        </p:nvSpPr>
        <p:spPr>
          <a:xfrm>
            <a:off x="653143" y="2601686"/>
            <a:ext cx="10401711" cy="2864659"/>
          </a:xfrm>
        </p:spPr>
        <p:txBody>
          <a:bodyPr/>
          <a:lstStyle/>
          <a:p>
            <a:r>
              <a:rPr lang="en-US" dirty="0" err="1"/>
              <a:t>Voici</a:t>
            </a:r>
            <a:r>
              <a:rPr lang="en-US" dirty="0"/>
              <a:t> le heatmap </a:t>
            </a:r>
            <a:r>
              <a:rPr lang="en-US" dirty="0" err="1"/>
              <a:t>relatif</a:t>
            </a:r>
            <a:r>
              <a:rPr lang="en-US" dirty="0"/>
              <a:t> aux pays </a:t>
            </a:r>
            <a:br>
              <a:rPr lang="en-US" dirty="0"/>
            </a:br>
            <a:r>
              <a:rPr lang="en-US" dirty="0"/>
              <a:t>et </a:t>
            </a:r>
            <a:r>
              <a:rPr lang="en-US" dirty="0" err="1"/>
              <a:t>indicateurs</a:t>
            </a:r>
            <a:r>
              <a:rPr lang="en-US" dirty="0"/>
              <a:t> : </a:t>
            </a:r>
          </a:p>
          <a:p>
            <a:endParaRPr lang="en-US" dirty="0"/>
          </a:p>
        </p:txBody>
      </p:sp>
      <p:pic>
        <p:nvPicPr>
          <p:cNvPr id="6" name="Picture 5">
            <a:extLst>
              <a:ext uri="{FF2B5EF4-FFF2-40B4-BE49-F238E27FC236}">
                <a16:creationId xmlns:a16="http://schemas.microsoft.com/office/drawing/2014/main" id="{35CE6403-B677-9060-CF68-BDC94AB416DA}"/>
              </a:ext>
            </a:extLst>
          </p:cNvPr>
          <p:cNvPicPr>
            <a:picLocks noChangeAspect="1"/>
          </p:cNvPicPr>
          <p:nvPr/>
        </p:nvPicPr>
        <p:blipFill>
          <a:blip r:embed="rId3"/>
          <a:stretch>
            <a:fillRect/>
          </a:stretch>
        </p:blipFill>
        <p:spPr>
          <a:xfrm>
            <a:off x="4784683" y="2477160"/>
            <a:ext cx="6270171" cy="3418620"/>
          </a:xfrm>
          <a:prstGeom prst="rect">
            <a:avLst/>
          </a:prstGeom>
        </p:spPr>
      </p:pic>
    </p:spTree>
    <p:extLst>
      <p:ext uri="{BB962C8B-B14F-4D97-AF65-F5344CB8AC3E}">
        <p14:creationId xmlns:p14="http://schemas.microsoft.com/office/powerpoint/2010/main" val="3354180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F5FF51-9260-F488-71E8-70973FFF03C2}"/>
              </a:ext>
            </a:extLst>
          </p:cNvPr>
          <p:cNvPicPr>
            <a:picLocks noChangeAspect="1"/>
          </p:cNvPicPr>
          <p:nvPr/>
        </p:nvPicPr>
        <p:blipFill>
          <a:blip r:embed="rId2"/>
          <a:stretch>
            <a:fillRect/>
          </a:stretch>
        </p:blipFill>
        <p:spPr>
          <a:xfrm>
            <a:off x="1085018" y="165354"/>
            <a:ext cx="10021963" cy="2762903"/>
          </a:xfrm>
          <a:prstGeom prst="rect">
            <a:avLst/>
          </a:prstGeom>
        </p:spPr>
      </p:pic>
      <p:sp>
        <p:nvSpPr>
          <p:cNvPr id="3" name="Content Placeholder 2">
            <a:extLst>
              <a:ext uri="{FF2B5EF4-FFF2-40B4-BE49-F238E27FC236}">
                <a16:creationId xmlns:a16="http://schemas.microsoft.com/office/drawing/2014/main" id="{0BECF1D7-91B8-B316-93DC-852B52019A06}"/>
              </a:ext>
            </a:extLst>
          </p:cNvPr>
          <p:cNvSpPr>
            <a:spLocks noGrp="1"/>
          </p:cNvSpPr>
          <p:nvPr>
            <p:ph idx="1"/>
          </p:nvPr>
        </p:nvSpPr>
        <p:spPr>
          <a:xfrm>
            <a:off x="696685" y="2928257"/>
            <a:ext cx="8895705" cy="2846071"/>
          </a:xfrm>
        </p:spPr>
        <p:txBody>
          <a:bodyPr/>
          <a:lstStyle/>
          <a:p>
            <a:r>
              <a:rPr lang="fr-FR" noProof="0" dirty="0"/>
              <a:t> Nous calculons les statistiques descriptives, puis traçons les distributions pour chaque indicateur : </a:t>
            </a:r>
          </a:p>
          <a:p>
            <a:endParaRPr lang="fr-FR" noProof="0" dirty="0"/>
          </a:p>
        </p:txBody>
      </p:sp>
      <p:pic>
        <p:nvPicPr>
          <p:cNvPr id="6" name="Picture 5">
            <a:extLst>
              <a:ext uri="{FF2B5EF4-FFF2-40B4-BE49-F238E27FC236}">
                <a16:creationId xmlns:a16="http://schemas.microsoft.com/office/drawing/2014/main" id="{ED1FB398-30E1-58DD-4FE7-A7474222D74A}"/>
              </a:ext>
            </a:extLst>
          </p:cNvPr>
          <p:cNvPicPr>
            <a:picLocks noChangeAspect="1"/>
          </p:cNvPicPr>
          <p:nvPr/>
        </p:nvPicPr>
        <p:blipFill>
          <a:blip r:embed="rId3"/>
          <a:stretch>
            <a:fillRect/>
          </a:stretch>
        </p:blipFill>
        <p:spPr>
          <a:xfrm>
            <a:off x="1085017" y="3855452"/>
            <a:ext cx="10021963" cy="1707509"/>
          </a:xfrm>
          <a:prstGeom prst="rect">
            <a:avLst/>
          </a:prstGeom>
        </p:spPr>
      </p:pic>
    </p:spTree>
    <p:extLst>
      <p:ext uri="{BB962C8B-B14F-4D97-AF65-F5344CB8AC3E}">
        <p14:creationId xmlns:p14="http://schemas.microsoft.com/office/powerpoint/2010/main" val="216904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E4768A5-FD08-7408-B9F3-D7367F8F2CFF}"/>
              </a:ext>
            </a:extLst>
          </p:cNvPr>
          <p:cNvPicPr>
            <a:picLocks noGrp="1" noChangeAspect="1"/>
          </p:cNvPicPr>
          <p:nvPr>
            <p:ph idx="1"/>
          </p:nvPr>
        </p:nvPicPr>
        <p:blipFill>
          <a:blip r:embed="rId2"/>
          <a:stretch>
            <a:fillRect/>
          </a:stretch>
        </p:blipFill>
        <p:spPr>
          <a:xfrm>
            <a:off x="1447346" y="136377"/>
            <a:ext cx="9677854" cy="3046211"/>
          </a:xfrm>
          <a:prstGeom prst="rect">
            <a:avLst/>
          </a:prstGeom>
        </p:spPr>
      </p:pic>
      <p:pic>
        <p:nvPicPr>
          <p:cNvPr id="5" name="Picture 4">
            <a:extLst>
              <a:ext uri="{FF2B5EF4-FFF2-40B4-BE49-F238E27FC236}">
                <a16:creationId xmlns:a16="http://schemas.microsoft.com/office/drawing/2014/main" id="{B32A642A-F90C-0B93-95BF-F4F958306E15}"/>
              </a:ext>
            </a:extLst>
          </p:cNvPr>
          <p:cNvPicPr>
            <a:picLocks noChangeAspect="1"/>
          </p:cNvPicPr>
          <p:nvPr/>
        </p:nvPicPr>
        <p:blipFill>
          <a:blip r:embed="rId3"/>
          <a:stretch>
            <a:fillRect/>
          </a:stretch>
        </p:blipFill>
        <p:spPr>
          <a:xfrm>
            <a:off x="1447346" y="3182588"/>
            <a:ext cx="9677854" cy="2867308"/>
          </a:xfrm>
          <a:prstGeom prst="rect">
            <a:avLst/>
          </a:prstGeom>
        </p:spPr>
      </p:pic>
    </p:spTree>
    <p:extLst>
      <p:ext uri="{BB962C8B-B14F-4D97-AF65-F5344CB8AC3E}">
        <p14:creationId xmlns:p14="http://schemas.microsoft.com/office/powerpoint/2010/main" val="3810189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64D49C-85E2-2A17-C507-A3EB4CEBA1AF}"/>
              </a:ext>
            </a:extLst>
          </p:cNvPr>
          <p:cNvPicPr>
            <a:picLocks noChangeAspect="1"/>
          </p:cNvPicPr>
          <p:nvPr/>
        </p:nvPicPr>
        <p:blipFill>
          <a:blip r:embed="rId2"/>
          <a:stretch>
            <a:fillRect/>
          </a:stretch>
        </p:blipFill>
        <p:spPr>
          <a:xfrm>
            <a:off x="1293817" y="41964"/>
            <a:ext cx="8427130" cy="2499023"/>
          </a:xfrm>
          <a:prstGeom prst="rect">
            <a:avLst/>
          </a:prstGeom>
        </p:spPr>
      </p:pic>
      <p:pic>
        <p:nvPicPr>
          <p:cNvPr id="5" name="Content Placeholder 4">
            <a:extLst>
              <a:ext uri="{FF2B5EF4-FFF2-40B4-BE49-F238E27FC236}">
                <a16:creationId xmlns:a16="http://schemas.microsoft.com/office/drawing/2014/main" id="{6EC6DE79-78B2-CAEE-7C92-58264809B361}"/>
              </a:ext>
            </a:extLst>
          </p:cNvPr>
          <p:cNvPicPr>
            <a:picLocks noGrp="1" noChangeAspect="1"/>
          </p:cNvPicPr>
          <p:nvPr>
            <p:ph idx="1"/>
          </p:nvPr>
        </p:nvPicPr>
        <p:blipFill>
          <a:blip r:embed="rId3"/>
          <a:stretch>
            <a:fillRect/>
          </a:stretch>
        </p:blipFill>
        <p:spPr>
          <a:xfrm>
            <a:off x="1293817" y="2540987"/>
            <a:ext cx="8427130" cy="2499024"/>
          </a:xfrm>
          <a:prstGeom prst="rect">
            <a:avLst/>
          </a:prstGeom>
        </p:spPr>
      </p:pic>
      <p:pic>
        <p:nvPicPr>
          <p:cNvPr id="6" name="Picture 5">
            <a:extLst>
              <a:ext uri="{FF2B5EF4-FFF2-40B4-BE49-F238E27FC236}">
                <a16:creationId xmlns:a16="http://schemas.microsoft.com/office/drawing/2014/main" id="{D59CFC33-3434-D791-8C9C-CE76DB71D046}"/>
              </a:ext>
            </a:extLst>
          </p:cNvPr>
          <p:cNvPicPr>
            <a:picLocks noChangeAspect="1"/>
          </p:cNvPicPr>
          <p:nvPr/>
        </p:nvPicPr>
        <p:blipFill>
          <a:blip r:embed="rId4"/>
          <a:stretch>
            <a:fillRect/>
          </a:stretch>
        </p:blipFill>
        <p:spPr>
          <a:xfrm>
            <a:off x="2219894" y="4986058"/>
            <a:ext cx="6574976" cy="1871942"/>
          </a:xfrm>
          <a:prstGeom prst="rect">
            <a:avLst/>
          </a:prstGeom>
        </p:spPr>
      </p:pic>
    </p:spTree>
    <p:extLst>
      <p:ext uri="{BB962C8B-B14F-4D97-AF65-F5344CB8AC3E}">
        <p14:creationId xmlns:p14="http://schemas.microsoft.com/office/powerpoint/2010/main" val="1722403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45727C-7844-65B3-642C-82DA60A19797}"/>
              </a:ext>
            </a:extLst>
          </p:cNvPr>
          <p:cNvSpPr txBox="1"/>
          <p:nvPr/>
        </p:nvSpPr>
        <p:spPr>
          <a:xfrm>
            <a:off x="1458684" y="903515"/>
            <a:ext cx="9501640" cy="646331"/>
          </a:xfrm>
          <a:prstGeom prst="rect">
            <a:avLst/>
          </a:prstGeom>
          <a:noFill/>
        </p:spPr>
        <p:txBody>
          <a:bodyPr wrap="none" rtlCol="0">
            <a:spAutoFit/>
          </a:bodyPr>
          <a:lstStyle/>
          <a:p>
            <a:r>
              <a:rPr lang="fr-FR" noProof="0" dirty="0"/>
              <a:t>Nous obtenons le tableau ci-dessous qui classe les pays selon un score, en partant du pays ayant les </a:t>
            </a:r>
            <a:br>
              <a:rPr lang="fr-FR" noProof="0" dirty="0"/>
            </a:br>
            <a:r>
              <a:rPr lang="fr-FR" noProof="0" dirty="0"/>
              <a:t>meilleurs indicateurs au moins bien. </a:t>
            </a:r>
          </a:p>
        </p:txBody>
      </p:sp>
      <p:pic>
        <p:nvPicPr>
          <p:cNvPr id="9" name="Picture 8">
            <a:extLst>
              <a:ext uri="{FF2B5EF4-FFF2-40B4-BE49-F238E27FC236}">
                <a16:creationId xmlns:a16="http://schemas.microsoft.com/office/drawing/2014/main" id="{BA0F3E93-6F75-FCED-E3F8-1E400373D237}"/>
              </a:ext>
            </a:extLst>
          </p:cNvPr>
          <p:cNvPicPr>
            <a:picLocks noChangeAspect="1"/>
          </p:cNvPicPr>
          <p:nvPr/>
        </p:nvPicPr>
        <p:blipFill>
          <a:blip r:embed="rId2"/>
          <a:stretch>
            <a:fillRect/>
          </a:stretch>
        </p:blipFill>
        <p:spPr>
          <a:xfrm>
            <a:off x="2373086" y="1920572"/>
            <a:ext cx="6966857" cy="4694692"/>
          </a:xfrm>
          <a:prstGeom prst="rect">
            <a:avLst/>
          </a:prstGeom>
        </p:spPr>
      </p:pic>
    </p:spTree>
    <p:extLst>
      <p:ext uri="{BB962C8B-B14F-4D97-AF65-F5344CB8AC3E}">
        <p14:creationId xmlns:p14="http://schemas.microsoft.com/office/powerpoint/2010/main" val="2032716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7D986-3424-FF59-6357-2DA3B3B9037A}"/>
              </a:ext>
            </a:extLst>
          </p:cNvPr>
          <p:cNvSpPr>
            <a:spLocks noGrp="1"/>
          </p:cNvSpPr>
          <p:nvPr>
            <p:ph type="title"/>
          </p:nvPr>
        </p:nvSpPr>
        <p:spPr>
          <a:xfrm>
            <a:off x="809322" y="782747"/>
            <a:ext cx="9603275" cy="1049235"/>
          </a:xfrm>
        </p:spPr>
        <p:txBody>
          <a:bodyPr/>
          <a:lstStyle/>
          <a:p>
            <a:pPr algn="ctr"/>
            <a:r>
              <a:rPr lang="en-US" dirty="0"/>
              <a:t>Conclusion</a:t>
            </a:r>
          </a:p>
        </p:txBody>
      </p:sp>
      <p:sp>
        <p:nvSpPr>
          <p:cNvPr id="3" name="Content Placeholder 2">
            <a:extLst>
              <a:ext uri="{FF2B5EF4-FFF2-40B4-BE49-F238E27FC236}">
                <a16:creationId xmlns:a16="http://schemas.microsoft.com/office/drawing/2014/main" id="{768B1711-2CA3-55E1-040B-AEE886A2C723}"/>
              </a:ext>
            </a:extLst>
          </p:cNvPr>
          <p:cNvSpPr>
            <a:spLocks noGrp="1"/>
          </p:cNvSpPr>
          <p:nvPr>
            <p:ph idx="1"/>
          </p:nvPr>
        </p:nvSpPr>
        <p:spPr>
          <a:xfrm>
            <a:off x="983694" y="2025980"/>
            <a:ext cx="9917708" cy="3612591"/>
          </a:xfrm>
        </p:spPr>
        <p:txBody>
          <a:bodyPr>
            <a:normAutofit fontScale="92500" lnSpcReduction="10000"/>
          </a:bodyPr>
          <a:lstStyle/>
          <a:p>
            <a:endParaRPr lang="fr-FR" noProof="0" dirty="0"/>
          </a:p>
          <a:p>
            <a:endParaRPr lang="fr-FR" noProof="0" dirty="0"/>
          </a:p>
          <a:p>
            <a:endParaRPr lang="fr-FR" noProof="0" dirty="0"/>
          </a:p>
          <a:p>
            <a:pPr marL="0" indent="0">
              <a:buNone/>
            </a:pPr>
            <a:endParaRPr lang="fr-FR" noProof="0" dirty="0"/>
          </a:p>
          <a:p>
            <a:r>
              <a:rPr lang="fr-FR" noProof="0" dirty="0"/>
              <a:t>Les différents traitements expliqués dans cette présentation ont permis d’obtenir le TOP 5 des pays ayant les meilleurs taux de scolarité au lycée et à l’université, le meilleur taux de réussite et d’accès à internet. </a:t>
            </a:r>
          </a:p>
          <a:p>
            <a:r>
              <a:rPr lang="fr-FR" dirty="0"/>
              <a:t>Ces pays représentent la meilleure cible au niveau mondial pour la mise en place du projet d’expansion à l’international.</a:t>
            </a:r>
            <a:endParaRPr lang="fr-FR" noProof="0" dirty="0"/>
          </a:p>
          <a:p>
            <a:endParaRPr lang="fr-FR" noProof="0" dirty="0"/>
          </a:p>
          <a:p>
            <a:endParaRPr lang="fr-FR" noProof="0" dirty="0"/>
          </a:p>
          <a:p>
            <a:endParaRPr lang="fr-FR" noProof="0" dirty="0"/>
          </a:p>
          <a:p>
            <a:endParaRPr lang="fr-FR" noProof="0" dirty="0"/>
          </a:p>
          <a:p>
            <a:endParaRPr lang="fr-FR" noProof="0" dirty="0"/>
          </a:p>
        </p:txBody>
      </p:sp>
      <p:pic>
        <p:nvPicPr>
          <p:cNvPr id="4" name="Picture 3">
            <a:extLst>
              <a:ext uri="{FF2B5EF4-FFF2-40B4-BE49-F238E27FC236}">
                <a16:creationId xmlns:a16="http://schemas.microsoft.com/office/drawing/2014/main" id="{59B3DC53-96E9-7B1F-2A93-989EA1E5115D}"/>
              </a:ext>
            </a:extLst>
          </p:cNvPr>
          <p:cNvPicPr>
            <a:picLocks noChangeAspect="1"/>
          </p:cNvPicPr>
          <p:nvPr/>
        </p:nvPicPr>
        <p:blipFill>
          <a:blip r:embed="rId2"/>
          <a:stretch>
            <a:fillRect/>
          </a:stretch>
        </p:blipFill>
        <p:spPr>
          <a:xfrm>
            <a:off x="1164676" y="1491343"/>
            <a:ext cx="9862648" cy="2144990"/>
          </a:xfrm>
          <a:prstGeom prst="rect">
            <a:avLst/>
          </a:prstGeom>
        </p:spPr>
      </p:pic>
    </p:spTree>
    <p:extLst>
      <p:ext uri="{BB962C8B-B14F-4D97-AF65-F5344CB8AC3E}">
        <p14:creationId xmlns:p14="http://schemas.microsoft.com/office/powerpoint/2010/main" val="144388039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{9B3C8308-414B-CC49-9361-C80E6F8328A6}tf10001119</Template>
  <TotalTime>3333</TotalTime>
  <Words>697</Words>
  <Application>Microsoft Macintosh PowerPoint</Application>
  <PresentationFormat>Widescreen</PresentationFormat>
  <Paragraphs>61</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Gill Sans MT</vt:lpstr>
      <vt:lpstr>Wingdings</vt:lpstr>
      <vt:lpstr>Gallery</vt:lpstr>
      <vt:lpstr>   ACADEMY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fz.romane@gmail.com</dc:creator>
  <cp:lastModifiedBy>fz.romane@gmail.com</cp:lastModifiedBy>
  <cp:revision>6</cp:revision>
  <dcterms:created xsi:type="dcterms:W3CDTF">2025-06-06T08:18:15Z</dcterms:created>
  <dcterms:modified xsi:type="dcterms:W3CDTF">2026-02-01T16:10:55Z</dcterms:modified>
</cp:coreProperties>
</file>